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ed Hat Display Black"/>
      <p:bold r:id="rId14"/>
      <p:boldItalic r:id="rId15"/>
    </p:embeddedFont>
    <p:embeddedFont>
      <p:font typeface="Red Hat Display Medium"/>
      <p:regular r:id="rId16"/>
      <p:bold r:id="rId17"/>
      <p:italic r:id="rId18"/>
      <p:boldItalic r:id="rId19"/>
    </p:embeddedFont>
    <p:embeddedFont>
      <p:font typeface="Red Hat Display"/>
      <p:regular r:id="rId20"/>
      <p:bold r:id="rId21"/>
      <p:italic r:id="rId22"/>
      <p:boldItalic r:id="rId23"/>
    </p:embeddedFont>
    <p:embeddedFont>
      <p:font typeface="Red Hat Display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CA92B28-5817-4398-9C27-1850C35C2FF4}">
  <a:tblStyle styleId="{ECA92B28-5817-4398-9C27-1850C35C2F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-regular.fntdata"/><Relationship Id="rId22" Type="http://schemas.openxmlformats.org/officeDocument/2006/relationships/font" Target="fonts/RedHatDisplay-italic.fntdata"/><Relationship Id="rId21" Type="http://schemas.openxmlformats.org/officeDocument/2006/relationships/font" Target="fonts/RedHatDisplay-bold.fntdata"/><Relationship Id="rId24" Type="http://schemas.openxmlformats.org/officeDocument/2006/relationships/font" Target="fonts/RedHatDisplayExtraBold-bold.fntdata"/><Relationship Id="rId23" Type="http://schemas.openxmlformats.org/officeDocument/2006/relationships/font" Target="fonts/RedHatDisplay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edHatDisplay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edHatDisplayBlack-boldItalic.fntdata"/><Relationship Id="rId14" Type="http://schemas.openxmlformats.org/officeDocument/2006/relationships/font" Target="fonts/RedHatDisplayBlack-bold.fntdata"/><Relationship Id="rId17" Type="http://schemas.openxmlformats.org/officeDocument/2006/relationships/font" Target="fonts/RedHatDisplayMedium-bold.fntdata"/><Relationship Id="rId16" Type="http://schemas.openxmlformats.org/officeDocument/2006/relationships/font" Target="fonts/RedHatDisplayMedium-regular.fntdata"/><Relationship Id="rId19" Type="http://schemas.openxmlformats.org/officeDocument/2006/relationships/font" Target="fonts/RedHatDisplayMedium-boldItalic.fntdata"/><Relationship Id="rId18" Type="http://schemas.openxmlformats.org/officeDocument/2006/relationships/font" Target="fonts/RedHat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3e59680e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3e59680e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2d413873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2d413873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2d413873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2d413873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3277569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3277569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32b2bcc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32b2bcc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3e59680e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3e59680e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3e59680e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3e59680e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3e59680e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3e59680e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"/>
            <a:ext cx="9143997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87425" y="1158675"/>
            <a:ext cx="43758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400">
                <a:solidFill>
                  <a:srgbClr val="131E2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SunExpress</a:t>
            </a:r>
            <a:endParaRPr b="1" sz="2400">
              <a:solidFill>
                <a:srgbClr val="131E2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400">
                <a:solidFill>
                  <a:srgbClr val="131E2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sz="2400">
              <a:solidFill>
                <a:srgbClr val="131E2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250" y="523926"/>
            <a:ext cx="1289524" cy="55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200">
                <a:solidFill>
                  <a:srgbClr val="EB690B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iOS</a:t>
            </a:r>
            <a:r>
              <a:rPr lang="tr" sz="2200">
                <a:solidFill>
                  <a:srgbClr val="212D2F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 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62" name="Google Shape;62;p14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" name="Google Shape;64;p14"/>
          <p:cNvGraphicFramePr/>
          <p:nvPr/>
        </p:nvGraphicFramePr>
        <p:xfrm>
          <a:off x="483688" y="9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735375"/>
                <a:gridCol w="1288250"/>
                <a:gridCol w="1288250"/>
                <a:gridCol w="1288250"/>
                <a:gridCol w="1288250"/>
                <a:gridCol w="1288250"/>
              </a:tblGrid>
              <a:tr h="59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App Rating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Crash Free User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Download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Active User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Uninstall Count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21.9K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74K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1.37K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99.85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25K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79K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2K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99.79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77K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3.0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99.57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20.4K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81K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1.79K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2.8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99.6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28.8K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2.37K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2.7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99.89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100K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2.44K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2.8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99.88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103K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2.28K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200">
                <a:solidFill>
                  <a:srgbClr val="EB690B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Android</a:t>
            </a:r>
            <a:r>
              <a:rPr lang="tr" sz="2200">
                <a:solidFill>
                  <a:srgbClr val="212D2F"/>
                </a:solidFill>
                <a:latin typeface="Red Hat Display Black"/>
                <a:ea typeface="Red Hat Display Black"/>
                <a:cs typeface="Red Hat Display Black"/>
                <a:sym typeface="Red Hat Display Black"/>
              </a:rPr>
              <a:t> 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Performance Overview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0" name="Google Shape;70;p15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2" name="Google Shape;72;p15"/>
          <p:cNvGraphicFramePr/>
          <p:nvPr/>
        </p:nvGraphicFramePr>
        <p:xfrm>
          <a:off x="483688" y="95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735375"/>
                <a:gridCol w="1288250"/>
                <a:gridCol w="1288250"/>
                <a:gridCol w="1288250"/>
                <a:gridCol w="1288250"/>
                <a:gridCol w="1288250"/>
              </a:tblGrid>
              <a:tr h="59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App Rating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Crash Free User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Download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Active User 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Uninstall Count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(Weekly)</a:t>
                      </a:r>
                      <a:endParaRPr sz="1200">
                        <a:solidFill>
                          <a:srgbClr val="1C4587"/>
                        </a:solidFill>
                        <a:latin typeface="Red Hat Display ExtraBold"/>
                        <a:ea typeface="Red Hat Display ExtraBold"/>
                        <a:cs typeface="Red Hat Display ExtraBold"/>
                        <a:sym typeface="Red Hat Display ExtraBold"/>
                      </a:endParaRPr>
                    </a:p>
                  </a:txBody>
                  <a:tcPr marT="91425" marB="91425" marR="91425" marL="91425" anchor="ctr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3.4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99.95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12K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38K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3K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99.94</a:t>
                      </a:r>
                      <a:endParaRPr sz="1200"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12K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41K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5.3K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9.7K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3.63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9.1K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13K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45K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3.8K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3.2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15K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50K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3.9K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  <a:tr h="373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3.3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99.94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13.9K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51K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4K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App Rating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5092713" y="114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3,4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3,6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3,63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3,0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3,63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2,8</a:t>
                      </a: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2,7</a:t>
                      </a: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/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3,2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2,8</a:t>
                      </a:r>
                      <a:endParaRPr b="1"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3,3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9" name="Google Shape;79;p16" title="Grafik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37" y="1108275"/>
            <a:ext cx="4382074" cy="2649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Frame 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Crash Free User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87" name="Google Shape;87;p17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99.95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99.85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99.79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99.57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99.6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99.89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99.93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99.88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99.94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" name="Google Shape;88;p17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126" y="1183726"/>
            <a:ext cx="4224701" cy="30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Download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96" name="Google Shape;96;p18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21.9K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12K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25K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12K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9.7K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20.4K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9.1K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28.8K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13K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9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15K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13.9K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7" name="Google Shape;97;p18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899" y="1144862"/>
            <a:ext cx="4499049" cy="298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Active User</a:t>
            </a: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105" name="Google Shape;105;p19"/>
          <p:cNvGraphicFramePr/>
          <p:nvPr/>
        </p:nvGraphicFramePr>
        <p:xfrm>
          <a:off x="5092713" y="114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74K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38K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79K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77K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81K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91K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45K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100K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50K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103K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51K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6" name="Google Shape;106;p19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81" y="1090100"/>
            <a:ext cx="4292655" cy="265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/>
        </p:nvSpPr>
        <p:spPr>
          <a:xfrm>
            <a:off x="358125" y="113375"/>
            <a:ext cx="4734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200">
                <a:solidFill>
                  <a:srgbClr val="212D2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Uninstall Count (Weekly)</a:t>
            </a:r>
            <a:endParaRPr b="1" sz="2200">
              <a:solidFill>
                <a:srgbClr val="212D2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5092713" y="114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{ECA92B28-5817-4398-9C27-1850C35C2FF4}</a:tableStyleId>
              </a:tblPr>
              <a:tblGrid>
                <a:gridCol w="1435900"/>
                <a:gridCol w="1274075"/>
                <a:gridCol w="970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Date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iOS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rgbClr val="1C4587"/>
                          </a:solidFill>
                          <a:latin typeface="Red Hat Display ExtraBold"/>
                          <a:ea typeface="Red Hat Display ExtraBold"/>
                          <a:cs typeface="Red Hat Display ExtraBold"/>
                          <a:sym typeface="Red Hat Display ExtraBold"/>
                        </a:rPr>
                        <a:t>Android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215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19 Jan - 25 Jan</a:t>
                      </a:r>
                      <a:endParaRPr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1.37K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26 Jan - 1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2K</a:t>
                      </a:r>
                      <a:endParaRPr b="1" sz="1200"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5.3K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Feb - 8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1.8K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3.6K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9 Feb - 15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1.79K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16 Feb - 22 Feb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2.37K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23 Feb - 1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2.44K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3.9K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r" sz="1200">
                          <a:solidFill>
                            <a:schemeClr val="dk1"/>
                          </a:solidFill>
                          <a:latin typeface="Red Hat Display Medium"/>
                          <a:ea typeface="Red Hat Display Medium"/>
                          <a:cs typeface="Red Hat Display Medium"/>
                          <a:sym typeface="Red Hat Display Medium"/>
                        </a:rPr>
                        <a:t>2 Mar - 8 Mar</a:t>
                      </a:r>
                      <a:endParaRPr sz="1200">
                        <a:solidFill>
                          <a:schemeClr val="dk1"/>
                        </a:solidFill>
                        <a:latin typeface="Red Hat Display Medium"/>
                        <a:ea typeface="Red Hat Display Medium"/>
                        <a:cs typeface="Red Hat Display Medium"/>
                        <a:sym typeface="Red Hat Display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2.28K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tr" sz="1200">
                          <a:solidFill>
                            <a:schemeClr val="dk1"/>
                          </a:solidFill>
                          <a:latin typeface="Red Hat Display"/>
                          <a:ea typeface="Red Hat Display"/>
                          <a:cs typeface="Red Hat Display"/>
                          <a:sym typeface="Red Hat Display"/>
                        </a:rPr>
                        <a:t>4K</a:t>
                      </a:r>
                      <a:endParaRPr b="1" sz="1200">
                        <a:solidFill>
                          <a:schemeClr val="dk1"/>
                        </a:solidFill>
                        <a:latin typeface="Red Hat Display"/>
                        <a:ea typeface="Red Hat Display"/>
                        <a:cs typeface="Red Hat Display"/>
                        <a:sym typeface="Red Hat Display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5" name="Google Shape;115;p20" title="Frame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783" y="4621189"/>
            <a:ext cx="608448" cy="265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7451" y="4539147"/>
            <a:ext cx="1007955" cy="42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 title="Grafik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12" y="1144625"/>
            <a:ext cx="4188987" cy="2597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