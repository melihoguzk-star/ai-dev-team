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ed Hat Display Black"/>
      <p:bold r:id="rId14"/>
      <p:boldItalic r:id="rId15"/>
    </p:embeddedFont>
    <p:embeddedFont>
      <p:font typeface="Red Hat Display Medium"/>
      <p:regular r:id="rId16"/>
      <p:bold r:id="rId17"/>
      <p:italic r:id="rId18"/>
      <p:boldItalic r:id="rId19"/>
    </p:embeddedFont>
    <p:embeddedFont>
      <p:font typeface="Red Hat Display"/>
      <p:regular r:id="rId20"/>
      <p:bold r:id="rId21"/>
      <p:italic r:id="rId22"/>
      <p:boldItalic r:id="rId23"/>
    </p:embeddedFont>
    <p:embeddedFont>
      <p:font typeface="Red Hat Display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A92B28-5817-4398-9C27-1850C35C2FF4}">
  <a:tblStyle styleId="{ECA92B28-5817-4398-9C27-1850C35C2F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-regular.fntdata"/><Relationship Id="rId22" Type="http://schemas.openxmlformats.org/officeDocument/2006/relationships/font" Target="fonts/RedHatDisplay-italic.fntdata"/><Relationship Id="rId21" Type="http://schemas.openxmlformats.org/officeDocument/2006/relationships/font" Target="fonts/RedHatDisplay-bold.fntdata"/><Relationship Id="rId24" Type="http://schemas.openxmlformats.org/officeDocument/2006/relationships/font" Target="fonts/RedHatDisplayExtraBold-bold.fntdata"/><Relationship Id="rId23" Type="http://schemas.openxmlformats.org/officeDocument/2006/relationships/font" Target="fonts/RedHatDisplay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edHatDisplay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edHatDisplayBlack-boldItalic.fntdata"/><Relationship Id="rId14" Type="http://schemas.openxmlformats.org/officeDocument/2006/relationships/font" Target="fonts/RedHatDisplayBlack-bold.fntdata"/><Relationship Id="rId17" Type="http://schemas.openxmlformats.org/officeDocument/2006/relationships/font" Target="fonts/RedHatDisplayMedium-bold.fntdata"/><Relationship Id="rId16" Type="http://schemas.openxmlformats.org/officeDocument/2006/relationships/font" Target="fonts/RedHatDisplayMedium-regular.fntdata"/><Relationship Id="rId19" Type="http://schemas.openxmlformats.org/officeDocument/2006/relationships/font" Target="fonts/RedHatDisplayMedium-boldItalic.fntdata"/><Relationship Id="rId18" Type="http://schemas.openxmlformats.org/officeDocument/2006/relationships/font" Target="fonts/RedHatDisplay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3e59680e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3e59680e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2d413873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2d413873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2d413873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2d413873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3277569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3277569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32b2bcc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32b2bcc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3e59680e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3e59680e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3e59680e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3e59680e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3e59680e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3e59680e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"/>
            <a:ext cx="9143997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87425" y="1158675"/>
            <a:ext cx="43758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400">
                <a:solidFill>
                  <a:srgbClr val="131E2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SunExpress</a:t>
            </a:r>
            <a:endParaRPr b="1" sz="2400">
              <a:solidFill>
                <a:srgbClr val="131E2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400">
                <a:solidFill>
                  <a:srgbClr val="131E2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Overview</a:t>
            </a:r>
            <a:endParaRPr sz="2400">
              <a:solidFill>
                <a:srgbClr val="131E2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50" y="523926"/>
            <a:ext cx="1289524" cy="55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200">
                <a:solidFill>
                  <a:srgbClr val="EB690B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iOS</a:t>
            </a:r>
            <a:r>
              <a:rPr lang="tr" sz="2200">
                <a:solidFill>
                  <a:srgbClr val="212D2F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 </a:t>
            </a: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Overview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2" name="Google Shape;62;p14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" name="Google Shape;64;p14"/>
          <p:cNvGraphicFramePr/>
          <p:nvPr/>
        </p:nvGraphicFramePr>
        <p:xfrm>
          <a:off x="483688" y="95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735375"/>
                <a:gridCol w="1288250"/>
                <a:gridCol w="1288250"/>
                <a:gridCol w="1288250"/>
                <a:gridCol w="1288250"/>
                <a:gridCol w="1288250"/>
              </a:tblGrid>
              <a:tr h="59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App Rating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Crash Free User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Download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Active User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Uninstall Count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1.11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1.41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1.0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200">
                <a:solidFill>
                  <a:srgbClr val="EB690B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Android</a:t>
            </a:r>
            <a:r>
              <a:rPr lang="tr" sz="2200">
                <a:solidFill>
                  <a:srgbClr val="212D2F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 </a:t>
            </a: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Overview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0" name="Google Shape;70;p15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" name="Google Shape;72;p15"/>
          <p:cNvGraphicFramePr/>
          <p:nvPr/>
        </p:nvGraphicFramePr>
        <p:xfrm>
          <a:off x="483688" y="95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735375"/>
                <a:gridCol w="1288250"/>
                <a:gridCol w="1288250"/>
                <a:gridCol w="1288250"/>
                <a:gridCol w="1288250"/>
                <a:gridCol w="1288250"/>
              </a:tblGrid>
              <a:tr h="59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App Rating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Crash Free User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Download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Active User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Uninstall Count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2.62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3.18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2.17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2.54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1.46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2.29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2.04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App Rating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5092713" y="114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2,62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3,18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2,17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2,54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1,11</a:t>
                      </a: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1,46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1,41</a:t>
                      </a: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2,29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1,0</a:t>
                      </a:r>
                      <a:endParaRPr b="1"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2,04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9" name="Google Shape;79;p16" title="Grafik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37" y="1108275"/>
            <a:ext cx="4382074" cy="2649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Frame 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Crash Free User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87" name="Google Shape;87;p17"/>
          <p:cNvGraphicFramePr/>
          <p:nvPr/>
        </p:nvGraphicFramePr>
        <p:xfrm>
          <a:off x="5092713" y="114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" name="Google Shape;88;p17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126" y="1183726"/>
            <a:ext cx="4224701" cy="30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Download (Weekly)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96" name="Google Shape;96;p18"/>
          <p:cNvGraphicFramePr/>
          <p:nvPr/>
        </p:nvGraphicFramePr>
        <p:xfrm>
          <a:off x="5092713" y="114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7" name="Google Shape;97;p18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899" y="1144862"/>
            <a:ext cx="4499049" cy="298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Active User</a:t>
            </a: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(Weekly)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105" name="Google Shape;105;p19"/>
          <p:cNvGraphicFramePr/>
          <p:nvPr/>
        </p:nvGraphicFramePr>
        <p:xfrm>
          <a:off x="5092713" y="114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6" name="Google Shape;106;p19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181" y="1090100"/>
            <a:ext cx="4292655" cy="265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Uninstall Count (Weekly)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114" name="Google Shape;114;p20"/>
          <p:cNvGraphicFramePr/>
          <p:nvPr/>
        </p:nvGraphicFramePr>
        <p:xfrm>
          <a:off x="5092713" y="114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-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5" name="Google Shape;115;p20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212" y="1144625"/>
            <a:ext cx="4188987" cy="2597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